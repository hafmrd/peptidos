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635000"/>
            <a:ext cx="3810000" cy="3810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78ADD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335000" y="4445000"/>
            <a:ext cx="2540000" cy="2540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85B7EB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762000"/>
            <a:ext cx="558800" cy="558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78ADD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762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78000" y="69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BIOHACKS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78000" y="1079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600" kern="0" dirty="0">
                <a:solidFill>
                  <a:srgbClr val="85B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PHARMACEUTICAL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16000" y="1524000"/>
            <a:ext cx="3810000" cy="0"/>
          </a:xfrm>
          <a:prstGeom prst="straightConnector1">
            <a:avLst/>
          </a:prstGeom>
          <a:noFill/>
          <a:ln w="12700">
            <a:solidFill>
              <a:srgbClr val="FFFFFF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16000" y="2540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2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DATA SHEETS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1016000" y="3619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400" dirty="0">
                <a:solidFill>
                  <a:srgbClr val="85B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Peptide Science Division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16000" y="4318000"/>
            <a:ext cx="2540000" cy="0"/>
          </a:xfrm>
          <a:prstGeom prst="straightConnector1">
            <a:avLst/>
          </a:prstGeom>
          <a:noFill/>
          <a:ln w="25400">
            <a:solidFill>
              <a:srgbClr val="378ADD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1016000" y="4699000"/>
            <a:ext cx="889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product documentation for BIOHACKS PHARMACEUTICAL research peptide portfolio. Specifications, mechanisms, and technical data for 12 flagship compounds.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16000" y="6096000"/>
            <a:ext cx="1524000" cy="4445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6096000"/>
            <a:ext cx="152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 EDITION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16000" y="8255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26000" cy="9144000"/>
          </a:xfrm>
          <a:prstGeom prst="rect">
            <a:avLst/>
          </a:prstGeom>
          <a:solidFill>
            <a:srgbClr val="042C53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1524000"/>
            <a:ext cx="381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PEPTIDE PORTFOLIO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8000" y="2413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300" kern="0" dirty="0">
                <a:solidFill>
                  <a:srgbClr val="85B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FLAGSHIP COMPOUNDS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8000" y="2921000"/>
            <a:ext cx="1270000" cy="0"/>
          </a:xfrm>
          <a:prstGeom prst="straightConnector1">
            <a:avLst/>
          </a:prstGeom>
          <a:noFill/>
          <a:ln w="25400">
            <a:solidFill>
              <a:srgbClr val="378ADD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540000" y="5715000"/>
            <a:ext cx="1524000" cy="1524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3137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334000" y="1016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SEMAGLUTIDE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334000" y="1651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TIRZEPATIDE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334000" y="2286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RETATRUTIDE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334000" y="2921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BPC-157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334000" y="3556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GHK-CU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334000" y="4191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CJC-1295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795000" y="1016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HGH (SOMATROPIN)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795000" y="1651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TB-500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0795000" y="2286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SEMAX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0795000" y="2921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IPAMORELIN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795000" y="3556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EPITHALON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795000" y="4191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NAD+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solidFill>
            <a:srgbClr val="378AD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2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1270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016000" y="3429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SEMAGLUTIDE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419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85B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GLP-1 Receptor Agonist  |  Weight Loss &amp; Glycemic Control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6000" y="4953000"/>
            <a:ext cx="1905000" cy="0"/>
          </a:xfrm>
          <a:prstGeom prst="straightConnector1">
            <a:avLst/>
          </a:prstGeom>
          <a:noFill/>
          <a:ln w="38100">
            <a:solidFill>
              <a:srgbClr val="378AD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2065000" y="5080000"/>
            <a:ext cx="3175000" cy="3175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3137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08050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397000" cy="3556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GLP-1 CLASS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SEMAGLUTIDE  — 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76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2222500"/>
            <a:ext cx="6985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Semaglutide is a GLP-1 receptor agonist, a 31-amino acid analogue of human GLP-1 with 94% homology. Approved by FDA for type 2 diabetes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(Ozempic)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obesity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(Wegovy)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 of Novo Nordisk's blockbuster portfolio, with global sales exceeding $20B annually.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MECHANISM OF 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82000" y="2222500"/>
            <a:ext cx="711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Activates GLP-1 receptors to: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Stimulate glucose-dependent insulin secretion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Suppress glucagon release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 gastric emptying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appetite via hypothalamic pathways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Promote pancreatic beta-cell proliferation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501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15-20%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52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Body weight reduction at 68 weeks (STEP-1)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91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1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HbA1c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381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1.5-1.8% reduction in T2D patients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0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68 wks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810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Duration of STEP clinical trials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049000" y="5461000"/>
            <a:ext cx="444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39500" y="55880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2.4 mg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1239500" y="62230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approved dose (weekly SC)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SEMAGLUTIDE  —  Technical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14732000" cy="5969000"/>
        </p:xfrm>
        <a:graphic>
          <a:graphicData uri="http://schemas.openxmlformats.org/drawingml/2006/table">
            <a:tbl>
              <a:tblPr/>
              <a:tblGrid>
                <a:gridCol w="4124960"/>
                <a:gridCol w="10607040"/>
              </a:tblGrid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PROPERTY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CAS Number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910463-68-2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Formula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C187H291N45O59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Weight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4113.64 g/mol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Purity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&gt;99.0% (HPLC / Mass Spectrometry)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Physical State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Lyophilized powder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Sequence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His-Aib-Glu-Gly-Thr-Phe-Thr-Ser-Asp-Val-Ser-Ser-Tyr-Leu-Glu-Gly-Gln-Ala-Ala-Lys(AMD)-Glu-Phe-Ile-Ala-Trp-Leu-Val-Arg-Gly-Arg-Gly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-20°C, protect from light and moisture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(Reconstituted)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2-8°C, use within 28 days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Reconstitution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Bacteriostatic water (preferred) or sterile water for injection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Research Dosage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0.25 - 2.4 mg per week (subcutaneous injection)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Administration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Subcutaneous injection, once weekly (dose escalation recommended)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Shelf Life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24 months from date of manufacture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2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1270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016000" y="3429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TIRZEPATIDE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419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85B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GIP / GLP-1 Receptor Agonist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6000" y="4953000"/>
            <a:ext cx="1905000" cy="0"/>
          </a:xfrm>
          <a:prstGeom prst="straightConnector1">
            <a:avLst/>
          </a:prstGeom>
          <a:noFill/>
          <a:ln w="38100">
            <a:solidFill>
              <a:srgbClr val="378AD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2065000" y="5080000"/>
            <a:ext cx="3175000" cy="3175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3137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08050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397000" cy="3556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GLP-1 CLASS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TIRZEPATIDE  — 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76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2222500"/>
            <a:ext cx="6985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Tirzepatide is a dual GIP and GLP-1 receptor agonist, the first-in-class "twincretin." A 39-amino acid peptide with C20 fatty diacid for albumin binding and extended half-life.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Marketed by Eli Lilly as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Mounjaro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(diabetes) and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Zepbound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(obesity). Demonstrated superior efficacy to Semaglutide in head-to-head trials.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MECHANISM OF 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82000" y="2222500"/>
            <a:ext cx="711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receptor activation provides: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insulin secretion (GIP + GLP-1 synergy)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Superior glucagon suppression vs. GLP-1 alone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Greater weight reduction via dual pathway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lipid metabolism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Prolonged half-life via albumin binding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501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22.5%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52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weight loss at 72 weeks (SURMOUNT-1)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91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1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2.58%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381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HbA1c reduction at 15mg (SURPASS-4)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0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15mg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810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approved dose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049000" y="5461000"/>
            <a:ext cx="444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39500" y="55880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5-dose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1239500" y="62230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Escalation protocol (2.5 to 15mg)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TIRZEPATIDE  —  Technical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14732000" cy="5969000"/>
        </p:xfrm>
        <a:graphic>
          <a:graphicData uri="http://schemas.openxmlformats.org/drawingml/2006/table">
            <a:tbl>
              <a:tblPr/>
              <a:tblGrid>
                <a:gridCol w="4124960"/>
                <a:gridCol w="10607040"/>
              </a:tblGrid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PROPERTY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CAS Number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2023788-19-2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Formula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C225H348N48O68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Weight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4813.45 g/mol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Purity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&gt;99.0% (HPLC / Mass Spectrometry)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Physical State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Lyophilized powder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Structure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39-amino acid peptide with C20 fatty diacid moiety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-20°C, protect from light and moisture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(Reconstituted)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2-8°C, use within 28 days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Reconstitution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Bacteriostatic water (preferred) or sterile water for injection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Research Dosage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2.5 - 15 mg per week (subcutaneous injection)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Administration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Subcutaneous injection, once weekly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Shelf Life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24 months from date of manufacture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2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1270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016000" y="3429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RETATRUTIDE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419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85B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Triple GIP / GLP-1 / Glucagon Receptor Agonist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6000" y="4953000"/>
            <a:ext cx="1905000" cy="0"/>
          </a:xfrm>
          <a:prstGeom prst="straightConnector1">
            <a:avLst/>
          </a:prstGeom>
          <a:noFill/>
          <a:ln w="38100">
            <a:solidFill>
              <a:srgbClr val="378AD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2065000" y="5080000"/>
            <a:ext cx="3175000" cy="3175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3137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08050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905000" cy="3556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TRIPLE AGONIST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RETATRUTIDE  — 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76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2222500"/>
            <a:ext cx="6985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Retatrutide (LY3437943) is a first-in-class triple hormone receptor agonist targeting GIP, GLP-1, and glucagon receptors. Developed by Eli Lilly.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 trials (NEJM 2023) demonstrated unprecedented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24.2% mean weight reduction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48 weeks with 12mg dose — the highest efficacy reported for any anti-obesity pharmacotherapy.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TRIPLE MECHANISM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82000" y="2222500"/>
            <a:ext cx="711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Three-receptor synergy provides: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GIP agonism</a:t>
            </a:r>
            <a:pPr algn="l">
              <a:lnSpc>
                <a:spcPct val="160000"/>
              </a:lnSpc>
              <a:spcBef>
                <a:spcPts val="10"/>
              </a:spcBef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Enhanced insulin secretion, lipid clearance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GLP-1 agonism</a:t>
            </a:r>
            <a:pPr algn="l">
              <a:lnSpc>
                <a:spcPct val="160000"/>
              </a:lnSpc>
              <a:spcBef>
                <a:spcPts val="10"/>
              </a:spcBef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Appetite suppression, gastric emptying delay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Glucagon agonism</a:t>
            </a:r>
            <a:pPr algn="l">
              <a:lnSpc>
                <a:spcPct val="160000"/>
              </a:lnSpc>
              <a:spcBef>
                <a:spcPts val="10"/>
              </a:spcBef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Increased energy expenditure, hepatic fat oxidation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 effect: Superior weight loss + metabolic benefits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501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24.2%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52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 loss at 48 weeks (12mg dose)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91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1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381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Achieved &gt;5% weight loss at 8mg+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0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810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TRIUMPH program ongoing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049000" y="5461000"/>
            <a:ext cx="444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39500" y="55880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Weekly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1239500" y="62230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 injection, 6-day half-life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RETATRUTIDE  —  Technical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14732000" cy="5969000"/>
        </p:xfrm>
        <a:graphic>
          <a:graphicData uri="http://schemas.openxmlformats.org/drawingml/2006/table">
            <a:tbl>
              <a:tblPr/>
              <a:tblGrid>
                <a:gridCol w="4124960"/>
                <a:gridCol w="10607040"/>
              </a:tblGrid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PROPERTY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Code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LY3437943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Developer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Eli Lilly and Company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Weight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~4700 Da (approximate)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Structure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39-amino acid peptide + C20 fatty diacid moiety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Purity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&gt;99.0% (HPLC / Mass Spectrometry)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Physical State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Lyophilized powder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-20°C, protect from light and moisture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(Reconstituted)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2-8°C, use within 28 days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Research Dosage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1 - 12 mg per week (subcutaneous injection)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Administration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Subcutaneous injection, once weekly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Clinical Phase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Phase 3 (TRIUMPH program)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Status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Investigational — Not yet FDA approved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2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1270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016000" y="3429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BPC-157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419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85B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Body Protection Compound  |  Regenerative Peptide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6000" y="4953000"/>
            <a:ext cx="1905000" cy="0"/>
          </a:xfrm>
          <a:prstGeom prst="straightConnector1">
            <a:avLst/>
          </a:prstGeom>
          <a:noFill/>
          <a:ln w="38100">
            <a:solidFill>
              <a:srgbClr val="378AD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2065000" y="5080000"/>
            <a:ext cx="3175000" cy="3175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3137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08050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841500" cy="3556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841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REGENERATIVE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BPC-157  — 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76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2222500"/>
            <a:ext cx="6985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BPC-157 is a synthetic pentadecapeptide derived from a protective protein in human gastric juice. Known as the "Wolverine peptide" for its remarkable healing properties.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Extensive preclinical research shows efficacy for tendon, ligament, muscle, and nerve tissue regeneration. Highly stable, even in gastric acid conditions.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MECHANISM OF 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82000" y="2222500"/>
            <a:ext cx="711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regenerative pathways: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Stimulates angiogenesis via VEGF upregulation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Modulates nitric oxide (NO) signaling pathway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Anti-inflammatory cytokine regulation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ECM remodeling and collagen organization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Neuroprotective effects via BDNF/NGF pathways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501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HIGHLIGHTS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15-aa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52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Pentadecapeptide sequence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91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1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Gastric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381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Stable in gastric acid (unique)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0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810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Tissue types: tendon, nerve, muscle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049000" y="5461000"/>
            <a:ext cx="444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39500" y="55880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Systemic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1239500" y="62230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Oral bioavailability demonstrated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BPC-157  —  Technical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14732000" cy="5969000"/>
        </p:xfrm>
        <a:graphic>
          <a:graphicData uri="http://schemas.openxmlformats.org/drawingml/2006/table">
            <a:tbl>
              <a:tblPr/>
              <a:tblGrid>
                <a:gridCol w="4124960"/>
                <a:gridCol w="10607040"/>
              </a:tblGrid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PROPERTY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CAS Number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137525-51-0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Formula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C62H98N16O22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Weight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1419.56 g/mol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Purity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&gt;99.0% (HPLC / Mass Spectrometry)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Sequence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Gly-Glu-Pro-Pro-Pro-Gly-Lys-Pro-Ala-Asp-Asp-Ala-Gly-Leu-Val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Physical State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Lyophilized powder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-20°C, protect from light and moisture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(Reconstituted)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2-8°C, use within 14 days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Reconstitution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Bacteriostatic water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Research Dosage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200 - 500 mcg daily (subcutaneous or oral)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Administration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SC injection near injury site, or oral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Shelf Life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24 months from date of manufacture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2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1270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016000" y="3429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GHK-CU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419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85B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Copper Peptide  |  Skin Rejuvenation &amp; Repair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6000" y="4953000"/>
            <a:ext cx="1905000" cy="0"/>
          </a:xfrm>
          <a:prstGeom prst="straightConnector1">
            <a:avLst/>
          </a:prstGeom>
          <a:noFill/>
          <a:ln w="38100">
            <a:solidFill>
              <a:srgbClr val="378AD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2065000" y="5080000"/>
            <a:ext cx="3175000" cy="3175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3137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08050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460500" cy="3556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460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AESTHETIC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GHK-CU  — 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76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2222500"/>
            <a:ext cx="6985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GHK-Cu is a tripeptide (Gly-His-Lys) complexed with copper(II), first isolated from human plasma. A master regulator of tissue remodeling.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Upregulates ~4,000 human genes involved in regenerative processes. GHK levels decline from ~200 ng/mL (age 20) to ~80 ng/mL (age 60). Copper ion is essential for biological activity.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MECHANISM OF 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82000" y="2222500"/>
            <a:ext cx="711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Multi-target regenerative actions: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Stimulates collagen and elastin synthesis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Promotes wound healing and angiogenesis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Potent antioxidant activity (ROS scavenging)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Anti-inflammatory via TGF-beta suppression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Hair follicle growth stimulation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501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HIGHLIGHTS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~4,000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52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genes upregulated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91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1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1973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381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first isolated (human plasma)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0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810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Decline in GHK levels by age 60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049000" y="5461000"/>
            <a:ext cx="444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39500" y="55880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Cu2+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1239500" y="62230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Copper(II) essential for activity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GHK-CU  —  Technical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14732000" cy="5969000"/>
        </p:xfrm>
        <a:graphic>
          <a:graphicData uri="http://schemas.openxmlformats.org/drawingml/2006/table">
            <a:tbl>
              <a:tblPr/>
              <a:tblGrid>
                <a:gridCol w="4124960"/>
                <a:gridCol w="10607040"/>
              </a:tblGrid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PROPERTY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CAS Number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89030-95-5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Formula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C14H24N6O4Cu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Weight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403.94 g/mol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Purity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&gt;99.0% (HPLC / Mass Spectrometry)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Structure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Gly-His-Lys complexed with Cu(II)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Physical State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Lyophilized powder (blue coloration)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-20°C, protect from light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(Reconstituted)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2-8°C, protect from light, use within 14 days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Reconstitution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Bacteriostatic water or sterile water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Research Dosage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1 - 2 mg daily (topical or subcutaneous)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Administration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Topical or subcutaneous injection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Shelf Life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24 months from date of manufacture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42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1270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016000" y="3429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CJC-1295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419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85B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GHRH Analogue w/o DAC  |  GH Secretion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6000" y="4953000"/>
            <a:ext cx="1905000" cy="0"/>
          </a:xfrm>
          <a:prstGeom prst="straightConnector1">
            <a:avLst/>
          </a:prstGeom>
          <a:noFill/>
          <a:ln w="38100">
            <a:solidFill>
              <a:srgbClr val="378AD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2065000" y="5080000"/>
            <a:ext cx="3175000" cy="3175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3137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08050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968500" cy="3556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968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ANTI-AGING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CJC-1295 w/o DAC  — 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76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2222500"/>
            <a:ext cx="6985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CJC-1295 without DAC (Mod GRF 1-29) is a 29-amino acid GHRH analogue. The "w/o DAC" version provides short, pulsatile GH release mimicking natural physiology.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Unlike CJC-1295 with DAC, it does not cause GH "bleed." Best combined with a GHRP (Ipamorelin) for synergistic growth hormone release without elevating prolactin or cortisol.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MECHANISM OF 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82000" y="2222500"/>
            <a:ext cx="711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GHRH receptor agonism: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Activates pituitary somatotrophs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Stimulates pulsatile GH secretion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Elevates IGF-1 levels naturally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effect on prolactin or cortisol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Synergistic with GHRPs (Ipamorelin)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501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HIGHLIGHTS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Pulsatile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52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GH release pattern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91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1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~30 min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381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Half-life (short-acting)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0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Synergy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810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combined with Ipamorelin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049000" y="5461000"/>
            <a:ext cx="444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39500" y="55880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1239500" y="62230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prolactin/cortisol elevation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CJC-1295 w/o DAC  —  Technical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14732000" cy="5969000"/>
        </p:xfrm>
        <a:graphic>
          <a:graphicData uri="http://schemas.openxmlformats.org/drawingml/2006/table">
            <a:tbl>
              <a:tblPr/>
              <a:tblGrid>
                <a:gridCol w="4124960"/>
                <a:gridCol w="10607040"/>
              </a:tblGrid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PROPERTY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CAS Number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863288-34-0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Formula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C152H252N44O45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Weight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3368.74 g/mol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Purity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&gt;99.0% (HPLC / Mass Spectrometry)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Synonyms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 GRF 1-29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Physical State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Lyophilized powder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-20°C, protect from light and moisture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(Reconstituted)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2-8°C, use within 14 days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Reconstitution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Bacteriostatic water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Research Dosage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100 - 300 mcg, 1-3x daily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Administration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Subcutaneous injection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Shelf Life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24 months from date of manufacture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42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1270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016000" y="3429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HGH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419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85B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Somatropin  |  Human Growth Hormone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6000" y="4953000"/>
            <a:ext cx="1905000" cy="0"/>
          </a:xfrm>
          <a:prstGeom prst="straightConnector1">
            <a:avLst/>
          </a:prstGeom>
          <a:noFill/>
          <a:ln w="38100">
            <a:solidFill>
              <a:srgbClr val="378AD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2065000" y="5080000"/>
            <a:ext cx="3175000" cy="3175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3137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08050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905000" cy="3556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HGH (Somatropin)  — 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76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2222500"/>
            <a:ext cx="6985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Growth Hormone (Somatropin) is a 191-amino acid polypeptide produced by the anterior pituitary. Recombinant HGH (rHGH) is identical to natural pituitary GH.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 for growth, cell regeneration, and metabolism. Approved for GH deficiency, Turner syndrome, and Prader-Willi syndrome. Research areas include body composition, recovery, and metabolic optimization.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MECHANISM OF 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82000" y="2222500"/>
            <a:ext cx="711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GH receptor-mediated effects: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Direct: Lipolysis, protein synthesis, cell growth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Indirect (via IGF-1): Tissue growth, bone formation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nitrogen retention and muscle growth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lipid profile and body composition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Accelerated wound healing and recovery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501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HIGHLIGHTS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191 aa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52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Amino acid chain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91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1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22.1 kDa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381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Molecular weight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0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rDNA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810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Recombinant DNA origin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049000" y="5461000"/>
            <a:ext cx="444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39500" y="55880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22kD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1239500" y="62230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22-kDa isoform (major)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HGH  —  Technical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14732000" cy="5969000"/>
        </p:xfrm>
        <a:graphic>
          <a:graphicData uri="http://schemas.openxmlformats.org/drawingml/2006/table">
            <a:tbl>
              <a:tblPr/>
              <a:tblGrid>
                <a:gridCol w="4124960"/>
                <a:gridCol w="10607040"/>
              </a:tblGrid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PROPERTY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CAS Number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12629-01-5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Formula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C990H1529N263O299S7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Weight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22,124.12 g/mol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Purity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&gt;99.0% (SDS-PAGE / HPLC)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Structure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191 amino acids, 2 disulfide bridges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Physical State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Lyophilized powder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2-8°C (refrigerated, do not freeze)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(Reconstituted)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2-8°C, use within 14-28 days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Reconstitution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 mL bacteriostatic water per vial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Research Dosage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1 - 4 IU daily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Administration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Subcutaneous injection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Shelf Life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24 months from date of manufacture (refrigerated)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42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1270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016000" y="3429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TB-500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419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85B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Thymosin Beta-4  |  Tissue Regeneration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6000" y="4953000"/>
            <a:ext cx="1905000" cy="0"/>
          </a:xfrm>
          <a:prstGeom prst="straightConnector1">
            <a:avLst/>
          </a:prstGeom>
          <a:noFill/>
          <a:ln w="38100">
            <a:solidFill>
              <a:srgbClr val="378AD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2065000" y="5080000"/>
            <a:ext cx="3175000" cy="3175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3137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08050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841500" cy="3556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841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REGENERATIVE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TB-500  — 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76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2222500"/>
            <a:ext cx="6985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TB-500 is the synthetic version of Thymosin Beta-4 (TB4), a 43-amino acid peptide found in virtually all human and animal cells. The predominant thymosin in the body.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Plays a fundamental role in wound healing, angiogenesis, and cell migration. Often stacked with BPC-157 for comprehensive tissue repair protocols.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MECHANISM OF 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82000" y="2222500"/>
            <a:ext cx="711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regenerative mechanisms: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Upregulates actin polymerization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Promotes endothelial cell migration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inflammatory cytokines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Stimulates stem cell differentiation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Enhances cell-to-cell communication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501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HIGHLIGHTS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43-aa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52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Amino acid chain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91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1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Actin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381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structural protein regulated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0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Systemic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810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throughout the body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049000" y="5461000"/>
            <a:ext cx="444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39500" y="55880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Stack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1239500" y="62230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Synergy with BPC-157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TB-500  —  Technical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14732000" cy="5969000"/>
        </p:xfrm>
        <a:graphic>
          <a:graphicData uri="http://schemas.openxmlformats.org/drawingml/2006/table">
            <a:tbl>
              <a:tblPr/>
              <a:tblGrid>
                <a:gridCol w="4124960"/>
                <a:gridCol w="10607040"/>
              </a:tblGrid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PROPERTY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CAS Number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885340-08-9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Formula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C212H350N56O78S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Weight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4963.49 g/mol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Purity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&gt;99.0% (HPLC / Mass Spectrometry)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Sequence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Acetylated Thymosin Beta-4 fragment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Physical State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Lyophilized powder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-20°C, protect from light and moisture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(Reconstituted)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2-8°C, use within 14 days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Reconstitution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Bacteriostatic water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Research Dosage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2 - 5 mg twice weekly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Administration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Subcutaneous injection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Shelf Life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24 months from date of manufacture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42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1270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016000" y="3429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SEMAX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419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85B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Nootropic Peptide  |  Cognitive Enhancement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6000" y="4953000"/>
            <a:ext cx="1905000" cy="0"/>
          </a:xfrm>
          <a:prstGeom prst="straightConnector1">
            <a:avLst/>
          </a:prstGeom>
          <a:noFill/>
          <a:ln w="38100">
            <a:solidFill>
              <a:srgbClr val="378AD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2065000" y="5080000"/>
            <a:ext cx="3175000" cy="3175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3137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08050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587500" cy="3556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587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NOOTROPIC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SEMAX  — 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76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2222500"/>
            <a:ext cx="6985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Semax is a synthetic heptapeptide derived from ACTH fragment 4-10. Developed by the Russian Academy of Sciences for cognitive enhancement and neuroprotection.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clinically in Russia for stroke recovery, cognitive impairment, and optic nerve atrophy. Two forms: Semax (0.1%) and Semax NA (1% N-acetylated).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MECHANISM OF 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82000" y="2222500"/>
            <a:ext cx="711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neurotrophic mechanisms: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Increases BDNF and NGF expression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Modulates enkephalin degradation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Enhances serotonin and dopamine metabolism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Melanocortin receptor neuroprotection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Blood-brain barrier permeability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501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HIGHLIGHTS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Russia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52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Developed by Russian Academy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91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1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BDNF+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381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Neurotrophic factor upregulation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0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Forms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810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Semax and Semax NA (N-acetyl)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049000" y="5461000"/>
            <a:ext cx="444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39500" y="55880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Intranasal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1239500" y="62230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delivery route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SEMAX  —  Technical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14732000" cy="5969000"/>
        </p:xfrm>
        <a:graphic>
          <a:graphicData uri="http://schemas.openxmlformats.org/drawingml/2006/table">
            <a:tbl>
              <a:tblPr/>
              <a:tblGrid>
                <a:gridCol w="4124960"/>
                <a:gridCol w="10607040"/>
              </a:tblGrid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PROPERTY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CAS Number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80714-61-0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Formula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C37H51N9O10S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Weight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813.93 g/mol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Purity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&gt;99.0% (HPLC / Mass Spectrometry)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Sequence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Met-Glu-His-Phe-Pro-Gly-Pro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Physical State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Lyophilized powder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-20°C, protect from light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(Reconstituted)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2-8°C, use within 14 days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Reconstitution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Bacteriostatic saline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Research Dosage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300 - 900 mcg daily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Administration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Intranasal or subcutaneous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Shelf Life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24 months from date of manufacture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42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1270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016000" y="3429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IPAMORELIN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419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85B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Selective GH Secretagogue  |  GHRP Class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6000" y="4953000"/>
            <a:ext cx="1905000" cy="0"/>
          </a:xfrm>
          <a:prstGeom prst="straightConnector1">
            <a:avLst/>
          </a:prstGeom>
          <a:noFill/>
          <a:ln w="38100">
            <a:solidFill>
              <a:srgbClr val="378AD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2065000" y="5080000"/>
            <a:ext cx="3175000" cy="3175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3137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08050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968500" cy="3556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968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ANTI-AGING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IPAMORELIN  — 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76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2222500"/>
            <a:ext cx="6985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Ipamorelin is a selective pentapeptide growth hormone secretagogue. Activates ghrelin receptors (GHS-R) to stimulate pituitary GH release.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"cleanest" GHRP available: highly selective with no significant elevation of cortisol, prolactin, or aldosterone. Mimics natural GH pulsatile release.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MECHANISM OF 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82000" y="2222500"/>
            <a:ext cx="711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Selective ghrelin receptor agonism: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Selective GHS-R1a activation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Pulsatile GH release from pituitary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cortisol elevation (vs. GHRP-2/6)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prolactin elevation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Synergistic with GHRH (CJC-1295)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501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HIGHLIGHTS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52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prolactin/cortisol increase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91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1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Selective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381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Pure GH release mechanism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0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5-aa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810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Pentapeptide structure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049000" y="5461000"/>
            <a:ext cx="444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39500" y="55880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Synergy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1239500" y="62230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with CJC-1295 w/o DAC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IPAMORELIN  —  Technical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14732000" cy="5969000"/>
        </p:xfrm>
        <a:graphic>
          <a:graphicData uri="http://schemas.openxmlformats.org/drawingml/2006/table">
            <a:tbl>
              <a:tblPr/>
              <a:tblGrid>
                <a:gridCol w="4124960"/>
                <a:gridCol w="10607040"/>
              </a:tblGrid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PROPERTY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CAS Number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170851-70-4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Formula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C38H49N9O5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Weight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711.85 g/mol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Purity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&gt;99.0% (HPLC / Mass Spectrometry)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Sequence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Aib-His-D-2-Nal-D-Phe-Lys-NH2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Physical State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Lyophilized powder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-20°C, protect from light and moisture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(Reconstituted)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2-8°C, use within 14 days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Reconstitution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Bacteriostatic water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Research Dosage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100 - 300 mcg, 2-3x daily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Administration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Subcutaneous injection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Shelf Life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24 months from date of manufacture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42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1270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016000" y="3429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EPITHALON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419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85B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Telomerase Activator  |  Longevity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6000" y="4953000"/>
            <a:ext cx="1905000" cy="0"/>
          </a:xfrm>
          <a:prstGeom prst="straightConnector1">
            <a:avLst/>
          </a:prstGeom>
          <a:noFill/>
          <a:ln w="38100">
            <a:solidFill>
              <a:srgbClr val="378AD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2065000" y="5080000"/>
            <a:ext cx="3175000" cy="3175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3137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08050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587500" cy="3556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587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LONGEVITY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EPITHALON  — 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76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2222500"/>
            <a:ext cx="6985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Epithalon (Ala-Glu-Asp-Gly) is a tetrapeptide with potent telomerase-activating properties. Developed by Professor Vladimir Khavinson in Russia.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Activates telomerase enzyme, elongating telomeres (protective caps at chromosome ends). Over 20 years of clinical research in Russia. One of the most researched geroprotective peptides.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MECHANISM OF 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82000" y="2222500"/>
            <a:ext cx="711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Telomerase activation pathways: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Activates telomerase via hTERT upregulation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Elongates telomeres in somatic cells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Normalizes melatonin secretion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Improves immune function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Regulates gene expression in aging cells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501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HIGHLIGHTS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4-aa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52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Tetrapeptide (Ala-Glu-Asp-Gly)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91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1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20+ yrs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381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Clinical research history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0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hTERT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810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Telomerase gene upregulation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049000" y="5461000"/>
            <a:ext cx="444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39500" y="55880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Cycles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1239500" y="62230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10-20 day protocols recommended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EPITHALON  —  Technical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14732000" cy="5969000"/>
        </p:xfrm>
        <a:graphic>
          <a:graphicData uri="http://schemas.openxmlformats.org/drawingml/2006/table">
            <a:tbl>
              <a:tblPr/>
              <a:tblGrid>
                <a:gridCol w="4124960"/>
                <a:gridCol w="10607040"/>
              </a:tblGrid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PROPERTY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CAS Number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307297-39-8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Formula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C14H22N4O9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Weight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390.35 g/mol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Purity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&gt;99.0% (HPLC / Mass Spectrometry)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Sequence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Ala-Glu-Asp-Gly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Physical State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Lyophilized powder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-20°C, protect from light and moisture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(Reconstituted)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2-8°C, use within 14 days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Reconstitution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Bacteriostatic water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Research Dosage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5 - 10 mg daily (10-20 day cycles)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Administration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Subcutaneous injection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Shelf Life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24 months from date of manufacture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42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1270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016000" y="3429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NAD+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419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85B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Nicotinamide Adenine Dinucleotide  |  Cellular Energy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6000" y="4953000"/>
            <a:ext cx="1905000" cy="0"/>
          </a:xfrm>
          <a:prstGeom prst="straightConnector1">
            <a:avLst/>
          </a:prstGeom>
          <a:noFill/>
          <a:ln w="38100">
            <a:solidFill>
              <a:srgbClr val="378AD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2065000" y="5080000"/>
            <a:ext cx="3175000" cy="3175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3137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08050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333500" cy="3556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333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VITALITY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NAD+  — 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76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2222500"/>
            <a:ext cx="6985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NAD+ (Nicotinamide Adenine Dinucleotide) is an essential coenzyme in all living cells. Critical for energy metabolism, DNA repair, and cellular signaling.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NAD+ levels decline ~50% between age 20 and 50. Research focuses on aging intervention, metabolic health, neuroprotection, and sirtuin activation (the "longevity genes").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0" y="177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MECHANISM OF 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82000" y="2222500"/>
            <a:ext cx="711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 coenzyme functions: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ATP production (oxidative phosphorylation)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DNA repair (PARP enzyme substrate)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Sirtuin activation (SIRT1-SIRT7)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Calcium signaling regulation</a:t>
            </a:r>
            <a:endParaRPr lang="en-US" sz="1500" dirty="0"/>
          </a:p>
          <a:p>
            <a:pPr algn="l" marL="238125" indent="-238125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Immune cell function modulation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501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185F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HIGHLIGHTS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~50%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52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Decline by age 50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91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1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SIRT1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381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longevity gene activated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0" y="5461000"/>
            <a:ext cx="317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0500" y="5588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500+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810500" y="62230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Enzymes require NAD+ as cofactor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049000" y="5461000"/>
            <a:ext cx="444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39500" y="5588000"/>
            <a:ext cx="406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78A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Sensitive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1239500" y="62230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with care (heat/light/pH)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445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042C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NAD+  —  Technical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14732000" cy="5969000"/>
        </p:xfrm>
        <a:graphic>
          <a:graphicData uri="http://schemas.openxmlformats.org/drawingml/2006/table">
            <a:tbl>
              <a:tblPr/>
              <a:tblGrid>
                <a:gridCol w="4124960"/>
                <a:gridCol w="10607040"/>
              </a:tblGrid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PROPERTY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C53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CAS Number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53-84-9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Formula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C21H27N7O14P2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Molecular Weight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663.43 g/mol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Purity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&gt;99.0% (HPLC)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Form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Oxidized form (NAD+)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Physical State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Lyophilized powder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-20°C, protect from light and moisture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 (Reconstituted)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2-8°C, protect from light, use within 7 days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Reconstitution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Sterile PBS or saline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Research Dosage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50 - 500 mg (subcutaneous or IV research)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Administration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Subcutaneous injection or IV infusion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Shelf Life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C2C2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12 months from date of manufacture (lyophilized)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1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6F1FB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762000" y="85090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spc="100" kern="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RESEARCH USE ONLY  —  NOT FOR HUMAN CONSUMPTION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0" y="8509000"/>
            <a:ext cx="406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5F5E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BIOHACKS PHARMACEUTICAL  |  Peptide Science Division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42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0000" y="1270000"/>
            <a:ext cx="1905000" cy="1905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961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0" y="5715000"/>
            <a:ext cx="2286000" cy="2286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>
              <a:alpha val="1961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5" name="Shape 3"/>
          <p:cNvSpPr/>
          <p:nvPr/>
        </p:nvSpPr>
        <p:spPr>
          <a:xfrm>
            <a:off x="7493000" y="1905000"/>
            <a:ext cx="1270000" cy="1270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378ADD"/>
          </a:solidFill>
          <a:ln/>
        </p:spPr>
      </p:sp>
      <p:sp>
        <p:nvSpPr>
          <p:cNvPr id="6" name="Text 4"/>
          <p:cNvSpPr/>
          <p:nvPr/>
        </p:nvSpPr>
        <p:spPr>
          <a:xfrm>
            <a:off x="7493000" y="1905000"/>
            <a:ext cx="127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2540000" y="3556000"/>
            <a:ext cx="1117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BIOHACKS PHARMACEUTICAL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540000" y="4318000"/>
            <a:ext cx="1117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spc="400" kern="0" dirty="0">
                <a:solidFill>
                  <a:srgbClr val="85B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 Bioactive Compounds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0" y="5016500"/>
            <a:ext cx="2540000" cy="0"/>
          </a:xfrm>
          <a:prstGeom prst="straightConnector1">
            <a:avLst/>
          </a:prstGeom>
          <a:noFill/>
          <a:ln w="25400">
            <a:solidFill>
              <a:srgbClr val="378ADD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2540000" y="5461000"/>
            <a:ext cx="1117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spc="400" kern="0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RESEARCH USE ONLY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40000" y="6096000"/>
            <a:ext cx="1117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spc="300" kern="0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FOR HUMAN CONSUMPTION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10000" y="6858000"/>
            <a:ext cx="863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Peptide Science Division</a:t>
            </a:r>
            <a:endParaRPr lang="en-US" sz="14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85B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www.biohackspharma.com</a:t>
            </a:r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2C2C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</a:t>
            </a:r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85B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research@biohackspharma.com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9080500"/>
            <a:ext cx="16256000" cy="63500"/>
          </a:xfrm>
          <a:prstGeom prst="rect">
            <a:avLst/>
          </a:prstGeom>
          <a:solidFill>
            <a:srgbClr val="378ADD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BIOHACKS PHARMACEUTICAL - Technical Data Sheets</dc:title>
  <dc:subject>BIOHACKS PHARMACEUTICAL - Technical Data Sheets</dc:subject>
  <dc:creator>Kimi</dc:creator>
  <cp:lastModifiedBy>Kimi</cp:lastModifiedBy>
  <cp:revision>1</cp:revision>
  <dcterms:created xsi:type="dcterms:W3CDTF">2026-06-11T21:17:21Z</dcterms:created>
  <dcterms:modified xsi:type="dcterms:W3CDTF">2026-06-11T21:17:21Z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{"Label":"BIOHACKS PHARMACEUTICAL - Technical Data Sheets","ContentProducer":"001191110108MACG2KBH8F10000","ProduceID":"19eb861c-d922-8638-8000-00000d4067d4","ReservedCode1":"","ContentPropagator":"001191110108MACG2KBH8F20000","PropagateID":"19eb8499-4dd2-8724-8000-095224afc3ce","ReservedCode2":""}</vt:lpwstr>
  </property>
</Properties>
</file>